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645920"/>
            <a:ext cx="5029200" cy="5029200"/>
          </a:xfrm>
          <a:prstGeom prst="ellipse">
            <a:avLst/>
          </a:prstGeom>
          <a:solidFill>
            <a:srgbClr val="C9972C">
              <a:alpha val="15000"/>
            </a:srgbClr>
          </a:solidFill>
          <a:ln w="6350">
            <a:solidFill>
              <a:srgbClr val="C9972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2D9D6B">
              <a:alpha val="12000"/>
            </a:srgbClr>
          </a:solidFill>
          <a:ln w="6350">
            <a:solidFill>
              <a:srgbClr val="2D9D6B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AFRIFUTURES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86968"/>
            <a:ext cx="1645920" cy="22860"/>
          </a:xfrm>
          <a:prstGeom prst="rect">
            <a:avLst/>
          </a:prstGeom>
          <a:solidFill>
            <a:srgbClr val="C9972C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Prices.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Markets.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African Trade.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put real-time commodity price data on-chain so African farmers and traders can transact without middlemen taxing their ignorance.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1A2634"/>
          </a:solidFill>
          <a:ln w="10160">
            <a:solidFill>
              <a:srgbClr val="C99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Genesis Program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8B2020">
              <a:alpha val="12000"/>
            </a:srgbClr>
          </a:solidFill>
          <a:ln w="6350">
            <a:solidFill>
              <a:srgbClr val="8B2020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Middlemen control the price data.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0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farmers don't know the real market price, they get paid far less than their crops are worth. The middlemen aren't providing value — they're just taxing ignorance.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834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162232"/>
          </a:solidFill>
          <a:ln w="6350">
            <a:solidFill>
              <a:srgbClr val="C9972C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94436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20–40%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2697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income lost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predatory pricing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834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162232"/>
          </a:solidFill>
          <a:ln w="6350">
            <a:solidFill>
              <a:srgbClr val="C9972C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94436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500M+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29000" y="3657600"/>
            <a:ext cx="2697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Africa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2834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162232"/>
          </a:solidFill>
          <a:ln w="6350">
            <a:solidFill>
              <a:srgbClr val="C9972C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94436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$1T+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55080" y="3657600"/>
            <a:ext cx="2697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commodity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annually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1371600"/>
            <a:ext cx="3657600" cy="3657600"/>
          </a:xfrm>
          <a:prstGeom prst="ellipse">
            <a:avLst/>
          </a:prstGeom>
          <a:solidFill>
            <a:srgbClr val="C9972C">
              <a:alpha val="10000"/>
            </a:srgbClr>
          </a:solidFill>
          <a:ln w="6350">
            <a:solidFill>
              <a:srgbClr val="C9972C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THE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isn't a lack of buyers or sellers.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lack of truth.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0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these markets, information is the only thing that's scarce. Whoever controls the information controls the profit.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38328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7A1F1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4564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8221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a secret held by middlemen. Farmers negotiate blind.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338328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0F3D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4564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D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Afrifutures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38221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D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a public fact verified by the network. Power shifts to producers.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"/>
            <a:ext cx="9144000" cy="2834640"/>
          </a:xfrm>
          <a:prstGeom prst="rect">
            <a:avLst/>
          </a:prstGeom>
          <a:solidFill>
            <a:srgbClr val="C9972C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THE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transparent financial layer for African trade 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real price is public knowledge and any farmer or trader can transact without a middleman taking a cut.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1A2634"/>
          </a:solidFill>
          <a:ln w="10160">
            <a:solidFill>
              <a:srgbClr val="C99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2062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420624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1A2634"/>
          </a:solidFill>
          <a:ln w="10160">
            <a:solidFill>
              <a:srgbClr val="C99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42062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420624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1A2634"/>
          </a:solidFill>
          <a:ln w="10160">
            <a:solidFill>
              <a:srgbClr val="C99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42062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Middleman-Free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Cardano. Powered by Truth.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0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a decentralized price board and trading infrastructure that provides real-time, verifiable price data and prediction markets that allow traders to hedge risk.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8138160" cy="777240"/>
          </a:xfrm>
          <a:prstGeom prst="roundRect">
            <a:avLst>
              <a:gd name="adj" fmla="val 11765"/>
            </a:avLst>
          </a:prstGeom>
          <a:solidFill>
            <a:srgbClr val="1A3020"/>
          </a:solidFill>
          <a:ln w="12700">
            <a:solidFill>
              <a:srgbClr val="2D9D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5146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C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think the price is X"</a:t>
            </a:r>
            <a:pPr algn="ctr" indent="0" marL="0">
              <a:buNone/>
            </a:pPr>
            <a:r>
              <a:rPr lang="en-US" sz="1600" b="1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600" b="1" i="1" dirty="0">
                <a:solidFill>
                  <a:srgbClr val="A3D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network proves the price is X"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47472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62232"/>
          </a:solidFill>
          <a:ln w="6350">
            <a:solidFill>
              <a:srgbClr val="1A263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5844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Decentralized, on-chain commodity prices updated in real-time from verified market feeds.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47472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62232"/>
          </a:solidFill>
          <a:ln w="6350">
            <a:solidFill>
              <a:srgbClr val="1A263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35844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Markets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39319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hedge risk with transparent, permissionless prediction markets for future prices.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347472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62232"/>
          </a:solidFill>
          <a:ln w="6350">
            <a:solidFill>
              <a:srgbClr val="1A263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5844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Trustless Oracle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9319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Cardano-native oracles provide formally verified, tamper-proof price attestations.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 the middlemen of their only leverage: secrecy.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0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moving price discovery to a public blockchain, we make price data a public good. When a farmer can see the real-time price on their phone, the middleman has to pay a fair price — or the farmer finds another buyer.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60120" y="2606040"/>
            <a:ext cx="457200" cy="457200"/>
          </a:xfrm>
          <a:prstGeom prst="ellipse">
            <a:avLst/>
          </a:prstGeom>
          <a:solidFill>
            <a:srgbClr val="C9972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1546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162232"/>
          </a:solidFill>
          <a:ln w="6350">
            <a:solidFill>
              <a:srgbClr val="1A26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price feeds from exchanges &amp; brokers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3977640"/>
            <a:ext cx="320040" cy="0"/>
          </a:xfrm>
          <a:prstGeom prst="line">
            <a:avLst/>
          </a:prstGeom>
          <a:noFill/>
          <a:ln w="19050">
            <a:solidFill>
              <a:srgbClr val="C997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606040"/>
            <a:ext cx="457200" cy="457200"/>
          </a:xfrm>
          <a:prstGeom prst="ellipse">
            <a:avLst/>
          </a:prstGeom>
          <a:solidFill>
            <a:srgbClr val="C9972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31546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162232"/>
          </a:solidFill>
          <a:ln w="6350">
            <a:solidFill>
              <a:srgbClr val="1A26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Oracle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657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blockchain records &amp; attests the real price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3977640"/>
            <a:ext cx="320040" cy="0"/>
          </a:xfrm>
          <a:prstGeom prst="line">
            <a:avLst/>
          </a:prstGeom>
          <a:noFill/>
          <a:ln w="19050">
            <a:solidFill>
              <a:srgbClr val="C997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2606040"/>
            <a:ext cx="457200" cy="457200"/>
          </a:xfrm>
          <a:prstGeom prst="ellipse">
            <a:avLst/>
          </a:prstGeom>
          <a:solidFill>
            <a:srgbClr val="C9972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31546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162232"/>
          </a:solidFill>
          <a:ln w="6350">
            <a:solidFill>
              <a:srgbClr val="1A26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Farmer's Phone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visible to any participant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3977640"/>
            <a:ext cx="320040" cy="0"/>
          </a:xfrm>
          <a:prstGeom prst="line">
            <a:avLst/>
          </a:prstGeom>
          <a:noFill/>
          <a:ln w="19050">
            <a:solidFill>
              <a:srgbClr val="C997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2606040"/>
            <a:ext cx="457200" cy="457200"/>
          </a:xfrm>
          <a:prstGeom prst="ellipse">
            <a:avLst/>
          </a:prstGeom>
          <a:solidFill>
            <a:srgbClr val="C9972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86600" y="31546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162232"/>
          </a:solidFill>
          <a:ln w="6350">
            <a:solidFill>
              <a:srgbClr val="1A26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Transaction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78040" y="3657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Middleman must compete — or be bypassed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THE 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Massive. Fragmented. Waiting.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0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commodity trading is one of the largest untapped financial markets on earth — but it's fragmented, opaque, and built on informal trust. We're starting where the pain is sharpest.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4023360" cy="2468880"/>
          </a:xfrm>
          <a:prstGeom prst="roundRect">
            <a:avLst>
              <a:gd name="adj" fmla="val 4444"/>
            </a:avLst>
          </a:prstGeom>
          <a:solidFill>
            <a:srgbClr val="162232"/>
          </a:solidFill>
          <a:ln w="6350">
            <a:solidFill>
              <a:srgbClr val="C9972C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42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944368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 </a:t>
            </a:r>
            <a:pPr indent="0" marL="0">
              <a:buNone/>
            </a:pPr>
            <a:r>
              <a:rPr lang="en-US" sz="1300" b="1" dirty="0">
                <a:solidFill>
                  <a:srgbClr val="F0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Cocoa &amp; Coffee in West Africa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trust is established in one commodity, expanding to others is a matter of adding data feeds — not rebuilding the system.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423160"/>
            <a:ext cx="3886200" cy="2468880"/>
          </a:xfrm>
          <a:prstGeom prst="roundRect">
            <a:avLst>
              <a:gd name="adj" fmla="val 4444"/>
            </a:avLst>
          </a:prstGeom>
          <a:solidFill>
            <a:srgbClr val="162232"/>
          </a:solidFill>
          <a:ln w="6350">
            <a:solidFill>
              <a:srgbClr val="C9972C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5420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Opportunity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9443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8932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Cocoa global market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520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89320" y="3593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global market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40965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$1T+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89320" y="41696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commodities total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WHY THEY CAN'T LIVE WITHOUT 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about efficiency. It's about survival.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4023360" cy="3200400"/>
          </a:xfrm>
          <a:prstGeom prst="roundRect">
            <a:avLst>
              <a:gd name="adj" fmla="val 4000"/>
            </a:avLst>
          </a:prstGeom>
          <a:solidFill>
            <a:srgbClr val="7A1F1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013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AF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01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Farmer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1579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724912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price transparency, farmers lose 20–40% of their annual income to predatory pricing. This isn't about margins — it's about whether their families eat. Afrifutures gives them something to negotiate with: the truth.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46320" y="1645920"/>
            <a:ext cx="4023360" cy="3200400"/>
          </a:xfrm>
          <a:prstGeom prst="roundRect">
            <a:avLst>
              <a:gd name="adj" fmla="val 4000"/>
            </a:avLst>
          </a:prstGeom>
          <a:solidFill>
            <a:srgbClr val="0F3D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8013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2D9D6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801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Trader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21579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0" y="2724912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real price data or hedging tools, commodity trading is guesswork disguised as commerce. Afrifutures provides the infrastructure to see real prices and protect against volatility — turning gambling into strategy.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1C3C8C">
              <a:alpha val="15000"/>
            </a:srgbClr>
          </a:solidFill>
          <a:ln w="6350">
            <a:solidFill>
              <a:srgbClr val="1C3C8C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WHY CARDANO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need more than a database.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0E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need a trustless oracle.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0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Farmers' livelihoods depend on this infrastructure. It cannot break, be manipulated, or be owned by any one party. Cardano's focus on formal verification and identity makes it the right foundation.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162232"/>
          </a:solidFill>
          <a:ln w="6350">
            <a:solidFill>
              <a:srgbClr val="1C3C8C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53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B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227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correctness is mathematically proven, not just tested.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8803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162232"/>
          </a:solidFill>
          <a:ln w="6350">
            <a:solidFill>
              <a:srgbClr val="1C3C8C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953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B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Identity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3227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identity allows farmers and traders to build verifiable reputation.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162232"/>
          </a:solidFill>
          <a:ln w="6350">
            <a:solidFill>
              <a:srgbClr val="1C3C8C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59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B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Plutus Security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33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Eradanu's EUTXO model prevents entire classes of exploits common on EVM chains.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8862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162232"/>
          </a:solidFill>
          <a:ln w="6350">
            <a:solidFill>
              <a:srgbClr val="1C3C8C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959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B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Ecosystem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4233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builder support, funding, and a network committed to impact infrastructure.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Afrifutures</dc:title>
  <dc:subject>PptxGenJS Presentation</dc:subject>
  <dc:creator>PptxGenJS</dc:creator>
  <cp:lastModifiedBy>PptxGenJS</cp:lastModifiedBy>
  <cp:revision>1</cp:revision>
  <dcterms:created xsi:type="dcterms:W3CDTF">2026-07-08T10:44:38Z</dcterms:created>
  <dcterms:modified xsi:type="dcterms:W3CDTF">2026-07-08T10:44:38Z</dcterms:modified>
</cp:coreProperties>
</file>